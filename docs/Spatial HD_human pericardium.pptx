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61" r:id="rId4"/>
    <p:sldId id="262" r:id="rId5"/>
    <p:sldId id="259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E0B3D-2FE5-4486-DA87-1FD1D8423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C5F592-0BF2-F907-AC39-D8793CEAA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66285-A601-AD42-9A15-FD38B6370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9702B-4E36-173B-DFB3-20D765415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D5FD4D-7A2F-7894-B2C8-CFC2ECED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5045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16DF5-84CE-278E-47CE-E1FB8520C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AAECB-B5F1-FBC5-C828-202DF0CFC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EEA33-0446-FE4B-B5D6-A9B12069B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B93EF-622D-6C2B-5F4B-78583D2D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AF0A2-F57D-E621-A80C-28FF8D5B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31982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8D743-3485-E296-3C4E-313084B0E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39C2E-E073-1B79-DE18-649604F2B4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3661F-73FC-81E7-D832-1397E235D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8FF625-4C95-2226-AB27-95D92673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A8CF1-C846-BC0C-C995-A77F206C5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568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8A8A4-317F-145D-C309-4BB717A19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5DEA9-B782-42C6-0441-2230625504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66EE9-01BE-4C76-375F-062919786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C7A75-BFAD-9353-7B30-AA6F85C46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66BA8-4D35-9869-5B84-359DC9E25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F5380B-C9B1-4D0C-C359-AE2324B7C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6332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2042D-E7F7-BF60-C627-83EAE8B94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4CD8EB-9835-1EA9-01AC-523ECCFD3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5A82C-7DDB-DD18-8B23-0BA8DD1B2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505724-9428-5443-28EA-194A21646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2848D-B716-3910-0017-5B0DFF565A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5E649C-9D9B-4C52-D551-E5DC0CC12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FDFE42-A4B1-16E0-F8FD-C6E500FA6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6F99D1-7097-2C60-5666-25A3FA8D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67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8C80-A239-D18B-836F-E1D035F9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2C17DD-A027-B382-464E-16E2BC44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5FFAAB-C8A0-911B-A03D-2E36C9A11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C97492-3FD4-796E-82E2-7DF8266B6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580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31386-8F48-0992-2E53-BC37D6DDE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86875E-8CA3-20C0-5649-72A744A78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1954F-D5A3-57BC-6D8B-3CCF323B1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616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2EFD-6FA0-B816-BCAB-E05E1AAE6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D094D-5FAC-FC45-8BDB-E59E6B578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BC441-8503-3BF3-A472-6A19A1E3E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2BE32-8E32-6E02-7386-59B32FE9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43503-7C8C-8C5A-2357-955ABFE15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BCDB20-7B29-64B9-5F71-7F4E73333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83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40594-B266-524B-EC94-9CD202D8A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9C4520-9ECD-B5ED-685C-6539CFA37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7EDCF-D11E-CF10-7EB1-47D9ED011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190B54-499D-0068-D7FB-847DEB53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185E8-8635-E128-3D9D-103A1D781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D1658-C31E-C18E-D7A0-9B90FE25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4572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DF81-92A7-A171-2251-6DD8D34F8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B266AB-ABC4-78FD-3411-E66B0177D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3D418-0EC6-3ED8-0888-9821CE986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C7BCD-141C-22BC-5ACD-50DBB42F2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6BE33-65DE-40CB-FF5E-3CC06A870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434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43032F-F5AD-EDD5-6EC7-234B7065A7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D56E16-197D-7B26-9C27-30A607741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1F77C-CF2B-D1D8-7AFD-74BC13B2E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DC62B-8188-5D05-F882-CA4EAD92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DE83F-A9F4-7610-CF8F-B610B608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78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8637D3-AF50-F379-E96C-33274DE6C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943B53-65E5-C941-FE17-BE734D9FF0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altLang="zh-TW"/>
              <a:t>Click to edit Master text styles</a:t>
            </a:r>
          </a:p>
          <a:p>
            <a:pPr lvl="1"/>
            <a:r>
              <a:rPr lang="en-GB" altLang="zh-TW"/>
              <a:t>Second level</a:t>
            </a:r>
          </a:p>
          <a:p>
            <a:pPr lvl="2"/>
            <a:r>
              <a:rPr lang="en-GB" altLang="zh-TW"/>
              <a:t>Third level</a:t>
            </a:r>
          </a:p>
          <a:p>
            <a:pPr lvl="3"/>
            <a:r>
              <a:rPr lang="en-GB" altLang="zh-TW"/>
              <a:t>Fourth level</a:t>
            </a:r>
          </a:p>
          <a:p>
            <a:pPr lvl="4"/>
            <a:r>
              <a:rPr lang="en-GB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C437D1-B8CC-445F-F6F9-785315D5B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113E41-AD97-4314-8FCC-AD45874D60EF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FDFAE-24D5-99CB-6744-98C3AFC577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BBA84-F472-AB04-BE07-FBD458A24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E0EB7-A6B2-43E3-BEB9-43864E71461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096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72F144-05D5-AC39-1509-462F2BFBA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632" y="1657529"/>
            <a:ext cx="7935528" cy="48335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E58556-F66F-DDB6-E2FF-79B7AD87F2AA}"/>
              </a:ext>
            </a:extLst>
          </p:cNvPr>
          <p:cNvSpPr txBox="1"/>
          <p:nvPr/>
        </p:nvSpPr>
        <p:spPr>
          <a:xfrm>
            <a:off x="314632" y="366928"/>
            <a:ext cx="6558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VEC         =c("PECAM1","CLDN5","ACKR1","VWF","PLVAP","ICAM2","AQP1"),  </a:t>
            </a:r>
          </a:p>
          <a:p>
            <a:r>
              <a:rPr lang="en-US" altLang="zh-TW" sz="1200" b="1" dirty="0" err="1"/>
              <a:t>PeriFb_VSMC</a:t>
            </a:r>
            <a:r>
              <a:rPr lang="en-US" altLang="zh-TW" sz="1200" b="1" dirty="0"/>
              <a:t> = c("COL1A1","COL1A2","MYL9","LUM","ACTA2","PDGFRB","TAGLN","MYH11"),  </a:t>
            </a:r>
          </a:p>
          <a:p>
            <a:r>
              <a:rPr lang="en-US" altLang="zh-TW" sz="1200" b="1" dirty="0"/>
              <a:t>FRC         = c("CCL19","PDPN","VCAM1","IL33","CLU","IL7","CXCL12","DCN"),  </a:t>
            </a:r>
          </a:p>
          <a:p>
            <a:r>
              <a:rPr lang="en-US" altLang="zh-TW" sz="1200" b="1" dirty="0"/>
              <a:t>Myeloid     = c("LYZ","S100A9","S100A8","CTSS","CST3","GPNMB","CD68","MRC1"),  </a:t>
            </a:r>
          </a:p>
          <a:p>
            <a:r>
              <a:rPr lang="en-US" altLang="zh-TW" sz="1200" b="1" dirty="0" err="1"/>
              <a:t>Tcell</a:t>
            </a:r>
            <a:r>
              <a:rPr lang="en-US" altLang="zh-TW" sz="1200" b="1" dirty="0"/>
              <a:t>       = c("CD3D","CD3E","CD3G","IL7R","TRBC1","TRBC2","TRAC"),  </a:t>
            </a:r>
          </a:p>
          <a:p>
            <a:r>
              <a:rPr lang="en-US" altLang="zh-TW" sz="1200" b="1" dirty="0" err="1"/>
              <a:t>Bcell</a:t>
            </a:r>
            <a:r>
              <a:rPr lang="en-US" altLang="zh-TW" sz="1200" b="1" dirty="0"/>
              <a:t>       = c("MS4A1","CD79A","CD79B","IGHM","MZB1","XBP1","CD38")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64606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CC6D864-A736-C0E1-2495-D2D83F155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69" y="384833"/>
            <a:ext cx="4546465" cy="20451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78E836-DC7A-8F4F-55C1-F17B3E5A6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490" y="397638"/>
            <a:ext cx="4621510" cy="21419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4A2CAA-38E0-E6F5-1005-B99A404847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469" y="2691818"/>
            <a:ext cx="4615439" cy="20451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A3394A-78F6-5A21-4350-2057606035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7525" y="2664603"/>
            <a:ext cx="4615439" cy="20996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1D14EF0-97BC-B48E-BEB9-644E5C72B3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979" y="4779616"/>
            <a:ext cx="4546465" cy="20783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E9EFE6A-09FF-0F90-8FFF-A2C7A0743D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2012" y="4764219"/>
            <a:ext cx="4546464" cy="209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68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02FFC2A-019D-0553-5794-DC73F0985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3246" y="1288026"/>
            <a:ext cx="5655489" cy="4006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CC5C0D-82D2-29AB-2BD7-B74329234D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53267" y="1288026"/>
            <a:ext cx="5691164" cy="40067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36B254-0FBF-E831-EE61-EAE67757B6F9}"/>
              </a:ext>
            </a:extLst>
          </p:cNvPr>
          <p:cNvSpPr txBox="1"/>
          <p:nvPr/>
        </p:nvSpPr>
        <p:spPr>
          <a:xfrm>
            <a:off x="117988" y="560439"/>
            <a:ext cx="190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TW" dirty="0"/>
              <a:t>Gene expression: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16179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A0D449-523C-3FB7-5BEC-1CD98A4E1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3698" y="1799303"/>
            <a:ext cx="10906532" cy="452283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C4810E6-13DA-1090-8593-BDB1D6C3B4E2}"/>
              </a:ext>
            </a:extLst>
          </p:cNvPr>
          <p:cNvGrpSpPr/>
          <p:nvPr/>
        </p:nvGrpSpPr>
        <p:grpSpPr>
          <a:xfrm>
            <a:off x="259757" y="747251"/>
            <a:ext cx="2310424" cy="2104104"/>
            <a:chOff x="383458" y="589934"/>
            <a:chExt cx="6253316" cy="59881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A840430-FF9C-E0F0-1ECB-252833AB8C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5622" t="58928" r="48253"/>
            <a:stretch/>
          </p:blipFill>
          <p:spPr>
            <a:xfrm>
              <a:off x="383458" y="589934"/>
              <a:ext cx="6253316" cy="5988187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87F8ECF-E597-F656-02AF-4EF9A83DB932}"/>
                </a:ext>
              </a:extLst>
            </p:cNvPr>
            <p:cNvSpPr/>
            <p:nvPr/>
          </p:nvSpPr>
          <p:spPr>
            <a:xfrm>
              <a:off x="1809345" y="3388152"/>
              <a:ext cx="2128931" cy="151103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24A8EFA-BDA3-2924-5F7B-E83380ECCF20}"/>
              </a:ext>
            </a:extLst>
          </p:cNvPr>
          <p:cNvSpPr txBox="1"/>
          <p:nvPr/>
        </p:nvSpPr>
        <p:spPr>
          <a:xfrm>
            <a:off x="216310" y="314957"/>
            <a:ext cx="450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TW" dirty="0"/>
              <a:t>Zoom-in image overlaid with cell projection: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52048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F187E2-715C-9CC6-1B3D-71C5232203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r="8666"/>
          <a:stretch/>
        </p:blipFill>
        <p:spPr>
          <a:xfrm>
            <a:off x="2103644" y="1234558"/>
            <a:ext cx="9734805" cy="535980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DC5CD15D-BBDB-FE8F-0E2D-AD1BED3A4C0F}"/>
              </a:ext>
            </a:extLst>
          </p:cNvPr>
          <p:cNvGrpSpPr/>
          <p:nvPr/>
        </p:nvGrpSpPr>
        <p:grpSpPr>
          <a:xfrm>
            <a:off x="137809" y="839438"/>
            <a:ext cx="2310424" cy="2104104"/>
            <a:chOff x="383458" y="589934"/>
            <a:chExt cx="6253316" cy="598818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6F86EF4-AD3D-90C2-0593-C198B220E2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25622" t="58928" r="48253"/>
            <a:stretch/>
          </p:blipFill>
          <p:spPr>
            <a:xfrm>
              <a:off x="383458" y="589934"/>
              <a:ext cx="6253316" cy="5988187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44F719A-AF33-6113-1366-638F5EEC80F8}"/>
                </a:ext>
              </a:extLst>
            </p:cNvPr>
            <p:cNvSpPr/>
            <p:nvPr/>
          </p:nvSpPr>
          <p:spPr>
            <a:xfrm>
              <a:off x="2428567" y="4336026"/>
              <a:ext cx="648929" cy="64892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31DE5859-045E-CBC9-514F-2ED8386F9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551" y="3429000"/>
            <a:ext cx="1509513" cy="215644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1F41C27-C5BC-5E49-E606-A7B42A58053F}"/>
              </a:ext>
            </a:extLst>
          </p:cNvPr>
          <p:cNvSpPr txBox="1"/>
          <p:nvPr/>
        </p:nvSpPr>
        <p:spPr>
          <a:xfrm>
            <a:off x="216310" y="314957"/>
            <a:ext cx="4508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TW" dirty="0"/>
              <a:t>Zoom-in image overlaid with cell projection: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446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133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Cheng Hung-Wei</dc:creator>
  <cp:lastModifiedBy>Cheng Hung-Wei</cp:lastModifiedBy>
  <cp:revision>7</cp:revision>
  <dcterms:created xsi:type="dcterms:W3CDTF">2026-09-03T14:15:49Z</dcterms:created>
  <dcterms:modified xsi:type="dcterms:W3CDTF">2026-10-01T12:11:17Z</dcterms:modified>
</cp:coreProperties>
</file>